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4D6FC5-15E9-457F-8978-651FE5C5D58F}" v="1" dt="2026-10-21T16:32:10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" userId="8eddc4f8-40a1-49ff-9eca-35f95811660b" providerId="ADAL" clId="{90CAD2EB-C547-42C3-9F1F-0B5E34014355}"/>
    <pc:docChg chg="undo custSel modSld">
      <pc:chgData name="Shan" userId="8eddc4f8-40a1-49ff-9eca-35f95811660b" providerId="ADAL" clId="{90CAD2EB-C547-42C3-9F1F-0B5E34014355}" dt="2026-10-21T16:59:12.704" v="22" actId="20577"/>
      <pc:docMkLst>
        <pc:docMk/>
      </pc:docMkLst>
      <pc:sldChg chg="addSp delSp modSp mod">
        <pc:chgData name="Shan" userId="8eddc4f8-40a1-49ff-9eca-35f95811660b" providerId="ADAL" clId="{90CAD2EB-C547-42C3-9F1F-0B5E34014355}" dt="2026-10-21T16:59:12.704" v="22" actId="20577"/>
        <pc:sldMkLst>
          <pc:docMk/>
          <pc:sldMk cId="0" sldId="260"/>
        </pc:sldMkLst>
        <pc:spChg chg="mod">
          <ac:chgData name="Shan" userId="8eddc4f8-40a1-49ff-9eca-35f95811660b" providerId="ADAL" clId="{90CAD2EB-C547-42C3-9F1F-0B5E34014355}" dt="2026-10-21T16:59:12.704" v="22" actId="20577"/>
          <ac:spMkLst>
            <pc:docMk/>
            <pc:sldMk cId="0" sldId="260"/>
            <ac:spMk id="2" creationId="{00000000-0000-0000-0000-000000000000}"/>
          </ac:spMkLst>
        </pc:spChg>
        <pc:spChg chg="del">
          <ac:chgData name="Shan" userId="8eddc4f8-40a1-49ff-9eca-35f95811660b" providerId="ADAL" clId="{90CAD2EB-C547-42C3-9F1F-0B5E34014355}" dt="2026-10-21T16:31:22.526" v="0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Shan" userId="8eddc4f8-40a1-49ff-9eca-35f95811660b" providerId="ADAL" clId="{90CAD2EB-C547-42C3-9F1F-0B5E34014355}" dt="2026-10-21T16:32:10.919" v="10" actId="164"/>
          <ac:spMkLst>
            <pc:docMk/>
            <pc:sldMk cId="0" sldId="260"/>
            <ac:spMk id="5" creationId="{00000000-0000-0000-0000-000000000000}"/>
          </ac:spMkLst>
        </pc:spChg>
        <pc:spChg chg="mod">
          <ac:chgData name="Shan" userId="8eddc4f8-40a1-49ff-9eca-35f95811660b" providerId="ADAL" clId="{90CAD2EB-C547-42C3-9F1F-0B5E34014355}" dt="2026-10-21T16:32:10.919" v="10" actId="164"/>
          <ac:spMkLst>
            <pc:docMk/>
            <pc:sldMk cId="0" sldId="260"/>
            <ac:spMk id="7" creationId="{00000000-0000-0000-0000-000000000000}"/>
          </ac:spMkLst>
        </pc:spChg>
        <pc:spChg chg="add del mod">
          <ac:chgData name="Shan" userId="8eddc4f8-40a1-49ff-9eca-35f95811660b" providerId="ADAL" clId="{90CAD2EB-C547-42C3-9F1F-0B5E34014355}" dt="2026-10-21T16:31:41.022" v="5" actId="478"/>
          <ac:spMkLst>
            <pc:docMk/>
            <pc:sldMk cId="0" sldId="260"/>
            <ac:spMk id="11" creationId="{A79637A5-DB8E-C717-908F-F79BCDF44654}"/>
          </ac:spMkLst>
        </pc:spChg>
        <pc:grpChg chg="add mod">
          <ac:chgData name="Shan" userId="8eddc4f8-40a1-49ff-9eca-35f95811660b" providerId="ADAL" clId="{90CAD2EB-C547-42C3-9F1F-0B5E34014355}" dt="2026-10-21T16:59:05.868" v="12" actId="1076"/>
          <ac:grpSpMkLst>
            <pc:docMk/>
            <pc:sldMk cId="0" sldId="260"/>
            <ac:grpSpMk id="12" creationId="{02CC949A-F025-BDE3-35E4-1AB388A675A6}"/>
          </ac:grpSpMkLst>
        </pc:grpChg>
        <pc:graphicFrameChg chg="del">
          <ac:chgData name="Shan" userId="8eddc4f8-40a1-49ff-9eca-35f95811660b" providerId="ADAL" clId="{90CAD2EB-C547-42C3-9F1F-0B5E34014355}" dt="2026-10-21T16:31:22.526" v="0" actId="478"/>
          <ac:graphicFrameMkLst>
            <pc:docMk/>
            <pc:sldMk cId="0" sldId="260"/>
            <ac:graphicFrameMk id="4" creationId="{00000000-0000-0000-0000-000000000000}"/>
          </ac:graphicFrameMkLst>
        </pc:graphicFrameChg>
        <pc:picChg chg="mod">
          <ac:chgData name="Shan" userId="8eddc4f8-40a1-49ff-9eca-35f95811660b" providerId="ADAL" clId="{90CAD2EB-C547-42C3-9F1F-0B5E34014355}" dt="2026-10-21T16:32:10.919" v="10" actId="164"/>
          <ac:picMkLst>
            <pc:docMk/>
            <pc:sldMk cId="0" sldId="260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317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About 10 seconds. "We are GateFlow AI. Our prototype lets a school administrator test cohort timing and gate changes in a model before trying them at the gate." Introduce the team: Rathi Sankari S (BA), Sanjay (UI/UX), Abishek Edwin Raj (Developer), Venkatesan (QA).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About 15 seconds. Kavitha is an illustrative persona, not someone we interviewed. Say that clearly. The problem: when all cohorts leave together, vehicles pile up at the gate. Today schools change timings by circular, as Srinagar did in 2022, without a way to preview the effect at their own gate. Be honest: our only first-hand signal is one teammate’s experience. We have no gate counts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About 10 seconds. The insight that shaped the product: staggering is already used by authorities, so the gap is testing a change at one specific gate first. Evidence is secondary: a Srinagar news report and a UAE study. The assumption that gate queues recur at a typical school is unverified, and we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About 20 seconds. Our three Must-Haves are built: rule-based bottleneck diagnosis, a schedule search that only keeps plans respecting the school’s rules and then filters to the best trade-offs, and a deterministic simulation with six stress cases. The “AI” is classical search with Pareto filtering; there is no trained ML model, because there is no real data to learn from. What we cut: SUMO stays a separate prototype with a different scenario; vehicle-type pickup zones are not built; live traffic and LLM code exists but is unverified, so the demo runs offline. The numbers are from one synthetic run. Do not call it a 100% reduction: it is a model of a fictional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About 8 minutes; Abishek (Dev) drives, Rathi (BA) narrates. Follow the five rows in order. 1: point out that the school is synthetic. 2: name the bottleneck gate and cohort. 3: put the kindergarten cohort in fixedGroups and switch on sibling sync, run the search, and read the counts on screen. In the developer’s reproduced run: 2,662 combinations, 1 candidate (move upper elementary to Gate 4). If today’s numbers differ, say what the screen shows. 4: compare current and candidate from the same run; say “synthetic estimate” every time you read a number. Do not compare with the overview’s 48-vehicle figure. 5: run the six stress cases and call them what-ifs. If the app fails, play the backup recording immediately. Keep Wi-Fi off; nothing needs the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asked where the AI is: the schedule search is classical AI search over every rule-respecting option, keeping only the best trade-offs; parsing and diagnosis are rules; there is no ML model. About 15 seconds. The prompt that helped most asked the AI to act as a strict jury reviewer and verify every MRD and PRD claim against the developer handover and working code. What it got wrong: our AI-drafted PRD described features we never built, including SUMO checks, a learning demand model and vehicle-type zones. We caught it by comparing the docs with the developer’s handover, and rewrote them to match the handover. Lesson: write requirements from the build and label anything unverified. Close with the next step: one gate count and two interviews at a real school, to test whether the problem exists before claiming any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67" y="1102237"/>
            <a:ext cx="1056646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67" y="1833677"/>
            <a:ext cx="10566433" cy="421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67" y="1102237"/>
            <a:ext cx="10566466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67" y="1833677"/>
            <a:ext cx="10566433" cy="421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7154A"/>
              </a:gs>
              <a:gs pos="60000">
                <a:srgbClr val="262381"/>
              </a:gs>
              <a:gs pos="100000">
                <a:srgbClr val="312F92"/>
              </a:gs>
            </a:gsLst>
            <a:lin ang="2700000" scaled="0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017000" y="698500"/>
            <a:ext cx="2286000" cy="2286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066">
                  <a:alpha val="95000"/>
                </a:srgbClr>
              </a:gs>
              <a:gs pos="55000">
                <a:srgbClr val="F8821E">
                  <a:alpha val="95000"/>
                </a:srgbClr>
              </a:gs>
              <a:gs pos="100000">
                <a:srgbClr val="D9620A">
                  <a:alpha val="95000"/>
                </a:srgbClr>
              </a:gs>
            </a:gsLst>
            <a:path path="circle">
              <a:fillToRect l="35000" t="35000" r="65000" b="65000"/>
            </a:path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2767" y="711150"/>
            <a:ext cx="2120801" cy="736534"/>
          </a:xfrm>
          <a:prstGeom prst="roundRect">
            <a:avLst>
              <a:gd name="adj" fmla="val 15519"/>
            </a:avLst>
          </a:prstGeom>
          <a:solidFill>
            <a:srgbClr val="FBF8F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JJ College of Engineering and Technology logo"/>
          <p:cNvPicPr>
            <a:picLocks noChangeAspect="1"/>
          </p:cNvPicPr>
          <p:nvPr/>
        </p:nvPicPr>
        <p:blipFill>
          <a:blip r:embed="rId3"/>
          <a:srcRect t="-283" b="-283"/>
          <a:stretch/>
        </p:blipFill>
        <p:spPr>
          <a:xfrm>
            <a:off x="952417" y="800034"/>
            <a:ext cx="1841500" cy="5587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67" y="2638309"/>
            <a:ext cx="7848600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FFB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AI-PDLC HACKATHON · SCHOOL-GATE CONGESTION</a:t>
            </a:r>
            <a:endParaRPr lang="en-US" sz="1300" dirty="0"/>
          </a:p>
        </p:txBody>
      </p:sp>
      <p:sp>
        <p:nvSpPr>
          <p:cNvPr id="7" name="Text 4"/>
          <p:cNvSpPr>
            <a:spLocks noGrp="1"/>
          </p:cNvSpPr>
          <p:nvPr>
            <p:ph type="title"/>
          </p:nvPr>
        </p:nvSpPr>
        <p:spPr>
          <a:xfrm>
            <a:off x="812767" y="2996406"/>
            <a:ext cx="7848600" cy="685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5200" b="1" i="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GateFlow AI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812767" y="3783790"/>
            <a:ext cx="7848600" cy="316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D6D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dismissal timing and gate changes before families feel them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12767" y="5265704"/>
            <a:ext cx="2546366" cy="779529"/>
          </a:xfrm>
          <a:prstGeom prst="roundRect">
            <a:avLst>
              <a:gd name="adj" fmla="val 16292"/>
            </a:avLst>
          </a:prstGeom>
          <a:solidFill>
            <a:srgbClr val="2623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977801" y="5405355"/>
            <a:ext cx="22827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8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77801" y="5656709"/>
            <a:ext cx="2282788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Rathi Sankari 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86133" y="5265704"/>
            <a:ext cx="2546366" cy="779529"/>
          </a:xfrm>
          <a:prstGeom prst="roundRect">
            <a:avLst>
              <a:gd name="adj" fmla="val 16292"/>
            </a:avLst>
          </a:prstGeom>
          <a:solidFill>
            <a:srgbClr val="2623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651167" y="5405355"/>
            <a:ext cx="22827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8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51167" y="5656709"/>
            <a:ext cx="2282788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Sanjay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59500" y="5265704"/>
            <a:ext cx="2546366" cy="779529"/>
          </a:xfrm>
          <a:prstGeom prst="roundRect">
            <a:avLst>
              <a:gd name="adj" fmla="val 16292"/>
            </a:avLst>
          </a:prstGeom>
          <a:solidFill>
            <a:srgbClr val="2623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324534" y="5405355"/>
            <a:ext cx="22827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8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24534" y="5656709"/>
            <a:ext cx="2282788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Abishek Edwin Raj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832866" y="5265704"/>
            <a:ext cx="2546366" cy="779529"/>
          </a:xfrm>
          <a:prstGeom prst="roundRect">
            <a:avLst>
              <a:gd name="adj" fmla="val 16292"/>
            </a:avLst>
          </a:prstGeom>
          <a:solidFill>
            <a:srgbClr val="2623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8997900" y="5405355"/>
            <a:ext cx="22827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8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997900" y="5656709"/>
            <a:ext cx="2282788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Venkatesan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7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5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67" y="1102237"/>
            <a:ext cx="108834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test a dismissal change before families feel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782878"/>
            <a:ext cx="3302000" cy="2732484"/>
          </a:xfrm>
          <a:prstGeom prst="roundRect">
            <a:avLst>
              <a:gd name="adj" fmla="val 6507"/>
            </a:avLst>
          </a:prstGeom>
          <a:solidFill>
            <a:srgbClr val="312F9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1301" y="2011412"/>
            <a:ext cx="355534" cy="3555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1301" y="2455829"/>
            <a:ext cx="2930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FB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41301" y="2758033"/>
            <a:ext cx="2930280" cy="416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Kavitha, Vice-Principal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41301" y="3238004"/>
            <a:ext cx="293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1D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persona, not a real person.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1D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dismissal times for 775 students across 4 gates.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24267" y="1789228"/>
            <a:ext cx="7048615" cy="813461"/>
          </a:xfrm>
          <a:prstGeom prst="roundRect">
            <a:avLst>
              <a:gd name="adj" fmla="val 14832"/>
            </a:avLst>
          </a:prstGeom>
          <a:solidFill>
            <a:srgbClr val="FFFDF9"/>
          </a:solidFill>
          <a:ln w="12700">
            <a:solidFill>
              <a:srgbClr val="E3E0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4506268" y="1945845"/>
            <a:ext cx="68851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3E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06268" y="2197199"/>
            <a:ext cx="6885154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leaves at once; the queue backs toward the main road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24267" y="2742389"/>
            <a:ext cx="7048615" cy="813461"/>
          </a:xfrm>
          <a:prstGeom prst="roundRect">
            <a:avLst>
              <a:gd name="adj" fmla="val 14832"/>
            </a:avLst>
          </a:prstGeom>
          <a:solidFill>
            <a:srgbClr val="FFFDF9"/>
          </a:solidFill>
          <a:ln w="12700">
            <a:solidFill>
              <a:srgbClr val="E3E0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06268" y="2899006"/>
            <a:ext cx="68851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3E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06268" y="3150360"/>
            <a:ext cx="6885154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bad timing change costs every family time, and she finds out after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324267" y="3695551"/>
            <a:ext cx="7048615" cy="813461"/>
          </a:xfrm>
          <a:prstGeom prst="roundRect">
            <a:avLst>
              <a:gd name="adj" fmla="val 14832"/>
            </a:avLst>
          </a:prstGeom>
          <a:solidFill>
            <a:srgbClr val="FFFDF9"/>
          </a:solidFill>
          <a:ln w="12700">
            <a:solidFill>
              <a:srgbClr val="E3E0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506268" y="3852168"/>
            <a:ext cx="68851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3E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do today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06268" y="4103522"/>
            <a:ext cx="6885154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times by circular, as Srinagar did in 2022, with no preview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767" y="6238295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GateFlow AI · JJCET AI-PDLC Hackathon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33" y="6238295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A6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01" name="Caption"/>
          <p:cNvSpPr/>
          <p:nvPr/>
        </p:nvSpPr>
        <p:spPr>
          <a:xfrm>
            <a:off x="813816" y="4892040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a hypothesis: no gate counts or school interviews yet. One teammate saw his former school’s queue nearly reach the main road (anecdote).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Kashmir Despatch, 22 Apr 2022: Srinagar approved staggered timings for different classes to ease congestion.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82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2014305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OUR MRD TAUGHT US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67" y="2331720"/>
            <a:ext cx="981075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i="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“Authorities already stagger school timings, but no one tests the effect at one gate first”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767" y="3840480"/>
            <a:ext cx="5207000" cy="1371600"/>
          </a:xfrm>
          <a:prstGeom prst="roundRect">
            <a:avLst>
              <a:gd name="adj" fmla="val 16133"/>
            </a:avLst>
          </a:prstGeom>
          <a:solidFill>
            <a:srgbClr val="171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90534" y="4005543"/>
            <a:ext cx="499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8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0534" y="4256897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Srinagar approved class-wise staggered timings to ease congestion (2022). In Al Ain, staggered starts cut measured intersection delay by 28–42% (2015).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150" y="3840480"/>
            <a:ext cx="5207083" cy="1371600"/>
          </a:xfrm>
          <a:prstGeom prst="roundRect">
            <a:avLst>
              <a:gd name="adj" fmla="val 16133"/>
            </a:avLst>
          </a:prstGeom>
          <a:solidFill>
            <a:srgbClr val="1715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49917" y="4005543"/>
            <a:ext cx="49970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82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49917" y="4256897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queues recur at a typical Indian school, and staggering shrinks them there. We have no gate count or school interview yet.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767" y="6238295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2B1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GateFlow AI · JJCET AI-PDLC Hackathon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33" y="6238295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2B1A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5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DECISIONS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67" y="1102237"/>
            <a:ext cx="108834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built, and what we cut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767" y="1782877"/>
            <a:ext cx="5171033" cy="2286000"/>
          </a:xfrm>
          <a:prstGeom prst="roundRect">
            <a:avLst>
              <a:gd name="adj" fmla="val 8555"/>
            </a:avLst>
          </a:prstGeom>
          <a:solidFill>
            <a:srgbClr val="312F9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1301" y="2011412"/>
            <a:ext cx="4855384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FFB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MUST-HAVE · BUILT, QA RESULTS PENDING</a:t>
            </a:r>
            <a:endParaRPr lang="en-US" sz="1300" dirty="0"/>
          </a:p>
        </p:txBody>
      </p:sp>
      <p:pic>
        <p:nvPicPr>
          <p:cNvPr id="6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1301" y="2356776"/>
            <a:ext cx="228534" cy="2285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368" y="2356776"/>
            <a:ext cx="4515414" cy="26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diagnosis (rule-based)</a:t>
            </a:r>
            <a:endParaRPr lang="en-US" sz="1400" dirty="0"/>
          </a:p>
        </p:txBody>
      </p:sp>
      <p:pic>
        <p:nvPicPr>
          <p:cNvPr id="8" name="Image 1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1301" y="2710986"/>
            <a:ext cx="228534" cy="2285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368" y="2710986"/>
            <a:ext cx="4515414" cy="26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Rule-aware schedule search + Pareto filter</a:t>
            </a:r>
            <a:endParaRPr lang="en-US" sz="1400" dirty="0"/>
          </a:p>
        </p:txBody>
      </p:sp>
      <p:pic>
        <p:nvPicPr>
          <p:cNvPr id="10" name="Image 2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1301" y="3065197"/>
            <a:ext cx="228534" cy="2285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368" y="3065197"/>
            <a:ext cx="4515414" cy="26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Same-run simulation + six stress cases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1041301" y="341940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D6D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metrics: workflow completes 5/5; 100% of candidates obey the rules; same-run queue, wait and delay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6193300" y="1789227"/>
            <a:ext cx="5179582" cy="2286000"/>
          </a:xfrm>
          <a:prstGeom prst="roundRect">
            <a:avLst>
              <a:gd name="adj" fmla="val 8300"/>
            </a:avLst>
          </a:prstGeom>
          <a:solidFill>
            <a:srgbClr val="FFFDF9"/>
          </a:solidFill>
          <a:ln w="12700">
            <a:solidFill>
              <a:srgbClr val="E3E0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/>
          <p:nvPr/>
        </p:nvSpPr>
        <p:spPr>
          <a:xfrm>
            <a:off x="6426067" y="2021994"/>
            <a:ext cx="4855469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8A3E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ON PURPOSE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26067" y="2367359"/>
            <a:ext cx="4855469" cy="26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SUMO in the live flow — separate 6-group model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426067" y="2721570"/>
            <a:ext cx="4855469" cy="26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Vehicle-type pickup zones — gates first, zones later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26067" y="3075781"/>
            <a:ext cx="4855469" cy="265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traffic and LLM calls — unverified, so offline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2767" y="6238295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GateFlow AI · JJCET AI-PDLC Hackathon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058433" y="6238295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A6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02" name="Stat card 1"/>
          <p:cNvSpPr/>
          <p:nvPr/>
        </p:nvSpPr>
        <p:spPr>
          <a:xfrm>
            <a:off x="813816" y="4251960"/>
            <a:ext cx="3364992" cy="1280160"/>
          </a:xfrm>
          <a:prstGeom prst="roundRect">
            <a:avLst>
              <a:gd name="adj" fmla="val 8300"/>
            </a:avLst>
          </a:prstGeom>
          <a:solidFill>
            <a:srgbClr val="FFFDF9"/>
          </a:solidFill>
          <a:ln w="12700">
            <a:solidFill>
              <a:srgbClr val="E3E0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3" name="Stat label 1"/>
          <p:cNvSpPr/>
          <p:nvPr/>
        </p:nvSpPr>
        <p:spPr>
          <a:xfrm>
            <a:off x="1014984" y="43891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8A3E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 QUEUE</a:t>
            </a:r>
            <a:endParaRPr lang="en-US" sz="1300" dirty="0"/>
          </a:p>
        </p:txBody>
      </p:sp>
      <p:sp>
        <p:nvSpPr>
          <p:cNvPr id="504" name="Stat value 1"/>
          <p:cNvSpPr/>
          <p:nvPr/>
        </p:nvSpPr>
        <p:spPr>
          <a:xfrm>
            <a:off x="1014984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dirty="0" b="1">
                <a:solidFill>
                  <a:srgbClr val="1F1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 → 0</a:t>
            </a:r>
            <a:endParaRPr lang="en-US" sz="1400" dirty="0"/>
          </a:p>
        </p:txBody>
      </p:sp>
      <p:sp>
        <p:nvSpPr>
          <p:cNvPr id="505" name="Stat unit 1"/>
          <p:cNvSpPr/>
          <p:nvPr/>
        </p:nvSpPr>
        <p:spPr>
          <a:xfrm>
            <a:off x="1014984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</a:t>
            </a:r>
            <a:endParaRPr lang="en-US" sz="1400" dirty="0"/>
          </a:p>
        </p:txBody>
      </p:sp>
      <p:sp>
        <p:nvSpPr>
          <p:cNvPr id="506" name="Stat card 2"/>
          <p:cNvSpPr/>
          <p:nvPr/>
        </p:nvSpPr>
        <p:spPr>
          <a:xfrm>
            <a:off x="4361688" y="4251960"/>
            <a:ext cx="3364992" cy="1280160"/>
          </a:xfrm>
          <a:prstGeom prst="roundRect">
            <a:avLst>
              <a:gd name="adj" fmla="val 8300"/>
            </a:avLst>
          </a:prstGeom>
          <a:solidFill>
            <a:srgbClr val="FFFDF9"/>
          </a:solidFill>
          <a:ln w="12700">
            <a:solidFill>
              <a:srgbClr val="E3E0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7" name="Stat label 2"/>
          <p:cNvSpPr/>
          <p:nvPr/>
        </p:nvSpPr>
        <p:spPr>
          <a:xfrm>
            <a:off x="4562855" y="43891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8A3E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QUEUE-DERIVED P95 WAIT</a:t>
            </a:r>
            <a:endParaRPr lang="en-US" sz="1300" dirty="0"/>
          </a:p>
        </p:txBody>
      </p:sp>
      <p:sp>
        <p:nvSpPr>
          <p:cNvPr id="508" name="Stat value 2"/>
          <p:cNvSpPr/>
          <p:nvPr/>
        </p:nvSpPr>
        <p:spPr>
          <a:xfrm>
            <a:off x="4562855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dirty="0" b="1">
                <a:solidFill>
                  <a:srgbClr val="1F1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→ 0</a:t>
            </a:r>
            <a:endParaRPr lang="en-US" sz="1400" dirty="0"/>
          </a:p>
        </p:txBody>
      </p:sp>
      <p:sp>
        <p:nvSpPr>
          <p:cNvPr id="509" name="Stat unit 2"/>
          <p:cNvSpPr/>
          <p:nvPr/>
        </p:nvSpPr>
        <p:spPr>
          <a:xfrm>
            <a:off x="4562855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1400" dirty="0"/>
          </a:p>
        </p:txBody>
      </p:sp>
      <p:sp>
        <p:nvSpPr>
          <p:cNvPr id="510" name="Stat card 3"/>
          <p:cNvSpPr/>
          <p:nvPr/>
        </p:nvSpPr>
        <p:spPr>
          <a:xfrm>
            <a:off x="7909560" y="4251960"/>
            <a:ext cx="3364992" cy="1280160"/>
          </a:xfrm>
          <a:prstGeom prst="roundRect">
            <a:avLst>
              <a:gd name="adj" fmla="val 8300"/>
            </a:avLst>
          </a:prstGeom>
          <a:solidFill>
            <a:srgbClr val="FFFDF9"/>
          </a:solidFill>
          <a:ln w="12700">
            <a:solidFill>
              <a:srgbClr val="E3E0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1" name="Stat label 3"/>
          <p:cNvSpPr/>
          <p:nvPr/>
        </p:nvSpPr>
        <p:spPr>
          <a:xfrm>
            <a:off x="8110728" y="43891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b="1" kern="0" spc="100" dirty="0">
                <a:solidFill>
                  <a:srgbClr val="8A3E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DELAY</a:t>
            </a:r>
            <a:endParaRPr lang="en-US" sz="1300" dirty="0"/>
          </a:p>
        </p:txBody>
      </p:sp>
      <p:sp>
        <p:nvSpPr>
          <p:cNvPr id="512" name="Stat value 3"/>
          <p:cNvSpPr/>
          <p:nvPr/>
        </p:nvSpPr>
        <p:spPr>
          <a:xfrm>
            <a:off x="8110728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000" dirty="0" b="1">
                <a:solidFill>
                  <a:srgbClr val="1F1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 → 0</a:t>
            </a:r>
            <a:endParaRPr lang="en-US" sz="1400" dirty="0"/>
          </a:p>
        </p:txBody>
      </p:sp>
      <p:sp>
        <p:nvSpPr>
          <p:cNvPr id="513" name="Stat unit 3"/>
          <p:cNvSpPr/>
          <p:nvPr/>
        </p:nvSpPr>
        <p:spPr>
          <a:xfrm>
            <a:off x="8110728" y="5166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vehicle-hours</a:t>
            </a:r>
            <a:endParaRPr lang="en-US" sz="1400" dirty="0"/>
          </a:p>
        </p:txBody>
      </p:sp>
      <p:sp>
        <p:nvSpPr>
          <p:cNvPr id="514" name="Result caption"/>
          <p:cNvSpPr/>
          <p:nvPr/>
        </p:nvSpPr>
        <p:spPr>
          <a:xfrm>
            <a:off x="813816" y="56692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vs candidate (Gate 4 for upper elementary) from one synthetic deterministic run: 2,662 combinations searched, 1 candidate. Not field-measured.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73824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FB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· ABOUT 8 MINUTES</a:t>
            </a:r>
            <a:endParaRPr lang="en-US" sz="12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CC949A-F025-BDE3-35E4-1AB388A675A6}"/>
              </a:ext>
            </a:extLst>
          </p:cNvPr>
          <p:cNvGrpSpPr/>
          <p:nvPr/>
        </p:nvGrpSpPr>
        <p:grpSpPr>
          <a:xfrm>
            <a:off x="726503" y="1482393"/>
            <a:ext cx="10566466" cy="508000"/>
            <a:chOff x="812767" y="4299396"/>
            <a:chExt cx="10566466" cy="508000"/>
          </a:xfrm>
        </p:grpSpPr>
        <p:sp>
          <p:nvSpPr>
            <p:cNvPr id="5" name="Shape 2"/>
            <p:cNvSpPr/>
            <p:nvPr/>
          </p:nvSpPr>
          <p:spPr>
            <a:xfrm>
              <a:off x="812767" y="4299396"/>
              <a:ext cx="10566466" cy="508000"/>
            </a:xfrm>
            <a:prstGeom prst="roundRect">
              <a:avLst>
                <a:gd name="adj" fmla="val 25000"/>
              </a:avLst>
            </a:prstGeom>
            <a:solidFill>
              <a:srgbClr val="F8821E"/>
            </a:solidFill>
            <a:ln/>
          </p:spPr>
          <p:txBody>
            <a:bodyPr/>
            <a:lstStyle/>
            <a:p>
              <a:endParaRPr lang="en-IN"/>
            </a:p>
          </p:txBody>
        </p:sp>
        <p:pic>
          <p:nvPicPr>
            <p:cNvPr id="6" name="Image 0" descr="Play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990534" y="4426396"/>
              <a:ext cx="254000" cy="254000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1371534" y="4428958"/>
              <a:ext cx="6808787" cy="27427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ts val="1960"/>
                </a:lnSpc>
                <a:buNone/>
              </a:pPr>
              <a:r>
                <a:rPr lang="en-US" sz="1400" b="1" dirty="0">
                  <a:solidFill>
                    <a:srgbClr val="1715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Switch to the app now. Backup recording: [file name — confirm before 10:00]</a:t>
              </a:r>
              <a:endParaRPr lang="en-US" sz="1400" dirty="0"/>
            </a:p>
          </p:txBody>
        </p:sp>
      </p:grpSp>
      <p:sp>
        <p:nvSpPr>
          <p:cNvPr id="8" name="Text 4"/>
          <p:cNvSpPr/>
          <p:nvPr/>
        </p:nvSpPr>
        <p:spPr>
          <a:xfrm>
            <a:off x="812767" y="6238295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GateFlow AI · JJCET AI-PDLC Hackathon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058433" y="6238295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9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15" name="Step card 1"/>
          <p:cNvSpPr/>
          <p:nvPr/>
        </p:nvSpPr>
        <p:spPr>
          <a:xfrm>
            <a:off x="813816" y="2240280"/>
            <a:ext cx="10561320" cy="566928"/>
          </a:xfrm>
          <a:prstGeom prst="roundRect">
            <a:avLst>
              <a:gd name="adj" fmla="val 6507"/>
            </a:avLst>
          </a:prstGeom>
          <a:solidFill>
            <a:srgbClr val="262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6" name="Step label 1"/>
          <p:cNvSpPr/>
          <p:nvPr/>
        </p:nvSpPr>
        <p:spPr>
          <a:xfrm>
            <a:off x="1005840" y="2404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B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Scenario overview</a:t>
            </a:r>
            <a:endParaRPr lang="en-US" sz="1200" dirty="0"/>
          </a:p>
        </p:txBody>
      </p:sp>
      <p:sp>
        <p:nvSpPr>
          <p:cNvPr id="517" name="Step text 1"/>
          <p:cNvSpPr/>
          <p:nvPr/>
        </p:nvSpPr>
        <p:spPr>
          <a:xfrm>
            <a:off x="3840480" y="23957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Oakridge Academy (synthetic): 775 students, 540 vehicles, 4 gates, 5 cohorts</a:t>
            </a:r>
            <a:endParaRPr lang="en-US" sz="1400" dirty="0"/>
          </a:p>
        </p:txBody>
      </p:sp>
      <p:sp>
        <p:nvSpPr>
          <p:cNvPr id="518" name="Step card 2"/>
          <p:cNvSpPr/>
          <p:nvPr/>
        </p:nvSpPr>
        <p:spPr>
          <a:xfrm>
            <a:off x="813816" y="2916936"/>
            <a:ext cx="10561320" cy="566928"/>
          </a:xfrm>
          <a:prstGeom prst="roundRect">
            <a:avLst>
              <a:gd name="adj" fmla="val 6507"/>
            </a:avLst>
          </a:prstGeom>
          <a:solidFill>
            <a:srgbClr val="262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9" name="Step label 2"/>
          <p:cNvSpPr/>
          <p:nvPr/>
        </p:nvSpPr>
        <p:spPr>
          <a:xfrm>
            <a:off x="1005840" y="3081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B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Bottleneck diagnosis</a:t>
            </a:r>
            <a:endParaRPr lang="en-US" sz="1200" dirty="0"/>
          </a:p>
        </p:txBody>
      </p:sp>
      <p:sp>
        <p:nvSpPr>
          <p:cNvPr id="520" name="Step text 2"/>
          <p:cNvSpPr/>
          <p:nvPr/>
        </p:nvSpPr>
        <p:spPr>
          <a:xfrm>
            <a:off x="3840480" y="3072384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gate and cohort jam first, flagged by rules</a:t>
            </a:r>
            <a:endParaRPr lang="en-US" sz="1400" dirty="0"/>
          </a:p>
        </p:txBody>
      </p:sp>
      <p:sp>
        <p:nvSpPr>
          <p:cNvPr id="521" name="Step card 3"/>
          <p:cNvSpPr/>
          <p:nvPr/>
        </p:nvSpPr>
        <p:spPr>
          <a:xfrm>
            <a:off x="813816" y="3593592"/>
            <a:ext cx="10561320" cy="566928"/>
          </a:xfrm>
          <a:prstGeom prst="roundRect">
            <a:avLst>
              <a:gd name="adj" fmla="val 6507"/>
            </a:avLst>
          </a:prstGeom>
          <a:solidFill>
            <a:srgbClr val="262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2" name="Step label 3"/>
          <p:cNvSpPr/>
          <p:nvPr/>
        </p:nvSpPr>
        <p:spPr>
          <a:xfrm>
            <a:off x="1005840" y="3758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B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Schedule search</a:t>
            </a:r>
            <a:endParaRPr lang="en-US" sz="1200" dirty="0"/>
          </a:p>
        </p:txBody>
      </p:sp>
      <p:sp>
        <p:nvSpPr>
          <p:cNvPr id="523" name="Step text 3"/>
          <p:cNvSpPr/>
          <p:nvPr/>
        </p:nvSpPr>
        <p:spPr>
          <a:xfrm>
            <a:off x="3840480" y="37490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rules (kindergarten in fixedGroups, sibling sync on), search, read the counts</a:t>
            </a:r>
            <a:endParaRPr lang="en-US" sz="1400" dirty="0"/>
          </a:p>
        </p:txBody>
      </p:sp>
      <p:sp>
        <p:nvSpPr>
          <p:cNvPr id="524" name="Step card 4"/>
          <p:cNvSpPr/>
          <p:nvPr/>
        </p:nvSpPr>
        <p:spPr>
          <a:xfrm>
            <a:off x="813816" y="4270248"/>
            <a:ext cx="10561320" cy="566928"/>
          </a:xfrm>
          <a:prstGeom prst="roundRect">
            <a:avLst>
              <a:gd name="adj" fmla="val 6507"/>
            </a:avLst>
          </a:prstGeom>
          <a:solidFill>
            <a:srgbClr val="262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5" name="Step label 4"/>
          <p:cNvSpPr/>
          <p:nvPr/>
        </p:nvSpPr>
        <p:spPr>
          <a:xfrm>
            <a:off x="10058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B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Same-run comparison</a:t>
            </a:r>
            <a:endParaRPr lang="en-US" sz="1200" dirty="0"/>
          </a:p>
        </p:txBody>
      </p:sp>
      <p:sp>
        <p:nvSpPr>
          <p:cNvPr id="526" name="Step text 4"/>
          <p:cNvSpPr/>
          <p:nvPr/>
        </p:nvSpPr>
        <p:spPr>
          <a:xfrm>
            <a:off x="3840480" y="4425696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3.8 → 0 vehicles; p95 wait 2.5 → 0 min (synthetic)</a:t>
            </a:r>
            <a:endParaRPr lang="en-US" sz="1400" dirty="0"/>
          </a:p>
        </p:txBody>
      </p:sp>
      <p:sp>
        <p:nvSpPr>
          <p:cNvPr id="527" name="Step card 5"/>
          <p:cNvSpPr/>
          <p:nvPr/>
        </p:nvSpPr>
        <p:spPr>
          <a:xfrm>
            <a:off x="813816" y="4946904"/>
            <a:ext cx="10561320" cy="566928"/>
          </a:xfrm>
          <a:prstGeom prst="roundRect">
            <a:avLst>
              <a:gd name="adj" fmla="val 6507"/>
            </a:avLst>
          </a:prstGeom>
          <a:solidFill>
            <a:srgbClr val="2623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8" name="Step label 5"/>
          <p:cNvSpPr/>
          <p:nvPr/>
        </p:nvSpPr>
        <p:spPr>
          <a:xfrm>
            <a:off x="1005840" y="5111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B0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Six stress cases</a:t>
            </a:r>
            <a:endParaRPr lang="en-US" sz="1200" dirty="0"/>
          </a:p>
        </p:txBody>
      </p:sp>
      <p:sp>
        <p:nvSpPr>
          <p:cNvPr id="529" name="Step text 5"/>
          <p:cNvSpPr/>
          <p:nvPr/>
        </p:nvSpPr>
        <p:spPr>
          <a:xfrm>
            <a:off x="3840480" y="510235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Modelled what-ifs, not forecasts</a:t>
            </a:r>
            <a:endParaRPr lang="en-US" sz="1400" dirty="0"/>
          </a:p>
        </p:txBody>
      </p:sp>
      <p:sp>
        <p:nvSpPr>
          <p:cNvPr id="530" name="Demo caption"/>
          <p:cNvSpPr/>
          <p:nvPr/>
        </p:nvSpPr>
        <p:spPr>
          <a:xfrm>
            <a:off x="813816" y="56692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A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values: one synthetic deterministic run. The overview’s 48-vehicle queue comes from a different source and is not compared.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55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USED AI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67" y="1102237"/>
            <a:ext cx="108834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worked, what it got wrong, what we changed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17" y="1789227"/>
            <a:ext cx="3414894" cy="2514600"/>
          </a:xfrm>
          <a:prstGeom prst="roundRect">
            <a:avLst>
              <a:gd name="adj" fmla="val 9596"/>
            </a:avLst>
          </a:prstGeom>
          <a:solidFill>
            <a:srgbClr val="FFFDF9"/>
          </a:solidFill>
          <a:ln w="12700">
            <a:solidFill>
              <a:srgbClr val="E3E0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ThumbsUp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6501" y="1996610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69384" y="2001655"/>
            <a:ext cx="228957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that worked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6501" y="2339494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B3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“Act as a strict jury reviewer. Verify every MRD and PRD claim against the developer handover and working code. Separate implemented features from assumptions, planned features, and unverified integrations.”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6501" y="3730752"/>
            <a:ext cx="30901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/ skill: Claude, grill me style, evidence-based review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99095" y="1789227"/>
            <a:ext cx="3414977" cy="2514600"/>
          </a:xfrm>
          <a:prstGeom prst="roundRect">
            <a:avLst>
              <a:gd name="adj" fmla="val 9596"/>
            </a:avLst>
          </a:prstGeom>
          <a:solidFill>
            <a:srgbClr val="FFFDF9"/>
          </a:solidFill>
          <a:ln w="12700">
            <a:solidFill>
              <a:srgbClr val="E3E0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War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06479" y="1996610"/>
            <a:ext cx="254000" cy="254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49362" y="2001655"/>
            <a:ext cx="214451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got wrong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06479" y="2339494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B3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AI-drafted PRD promised SUMO checks, demand learning and vehicle-type zones the prototype does not have.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06479" y="3429000"/>
            <a:ext cx="3090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caught it: checked the docs against the dev handover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72805" y="1782877"/>
            <a:ext cx="3406428" cy="2514600"/>
          </a:xfrm>
          <a:prstGeom prst="roundRect">
            <a:avLst>
              <a:gd name="adj" fmla="val 9930"/>
            </a:avLst>
          </a:prstGeom>
          <a:solidFill>
            <a:srgbClr val="312F9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Wrench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75955" y="1986028"/>
            <a:ext cx="254000" cy="254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18839" y="1991072"/>
            <a:ext cx="20593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B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changed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175955" y="2328912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1D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Rewrote the docs from the dev handover: rule-based parsing, enumeration search, deterministic simulation, no ML claim. Next time we write the PRD from the build, not ahead of it.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12767" y="6238295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A6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GateFlow AI · JJCET AI-PDLC Hackathon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0058433" y="6238295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A6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31" name="AI in product card"/>
          <p:cNvSpPr/>
          <p:nvPr/>
        </p:nvSpPr>
        <p:spPr>
          <a:xfrm>
            <a:off x="822960" y="4526280"/>
            <a:ext cx="10561320" cy="1051560"/>
          </a:xfrm>
          <a:prstGeom prst="roundRect">
            <a:avLst>
              <a:gd name="adj" fmla="val 9596"/>
            </a:avLst>
          </a:prstGeom>
          <a:solidFill>
            <a:srgbClr val="FFFDF9"/>
          </a:solidFill>
          <a:ln w="12700">
            <a:solidFill>
              <a:srgbClr val="E3E0F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2" name="AI in product title"/>
          <p:cNvSpPr/>
          <p:nvPr/>
        </p:nvSpPr>
        <p:spPr>
          <a:xfrm>
            <a:off x="1024128" y="46817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1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is in the product</a:t>
            </a:r>
            <a:endParaRPr lang="en-US" sz="1600" dirty="0"/>
          </a:p>
        </p:txBody>
      </p:sp>
      <p:sp>
        <p:nvSpPr>
          <p:cNvPr id="533" name="AI in product text"/>
          <p:cNvSpPr/>
          <p:nvPr/>
        </p:nvSpPr>
        <p:spPr>
          <a:xfrm>
            <a:off x="1024128" y="50109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B3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Rule-aware schedule search with Pareto filtering, a classical AI search method. Constraint parsing and diagnosis are rule-based. No trained ML model: there is no real data to learn from yet.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JCET Hackathon Team Demo Template">
  <a:themeElements>
    <a:clrScheme name="JJCET Hackathon Team Demo Template">
      <a:dk1>
        <a:srgbClr val="17154A"/>
      </a:dk1>
      <a:lt1>
        <a:srgbClr val="FBF8F2"/>
      </a:lt1>
      <a:dk2>
        <a:srgbClr val="504E74"/>
      </a:dk2>
      <a:lt2>
        <a:srgbClr val="E4E1E1"/>
      </a:lt2>
      <a:accent1>
        <a:srgbClr val="F8821E"/>
      </a:accent1>
      <a:accent2>
        <a:srgbClr val="FFB066"/>
      </a:accent2>
      <a:accent3>
        <a:srgbClr val="312F92"/>
      </a:accent3>
      <a:accent4>
        <a:srgbClr val="8A3E05"/>
      </a:accent4>
      <a:accent5>
        <a:srgbClr val="B4550A"/>
      </a:accent5>
      <a:accent6>
        <a:srgbClr val="A9A6D6"/>
      </a:accent6>
      <a:hlink>
        <a:srgbClr val="0563C1"/>
      </a:hlink>
      <a:folHlink>
        <a:srgbClr val="954F72"/>
      </a:folHlink>
    </a:clrScheme>
    <a:fontScheme name="JJCET Hackathon Team Demo Templat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621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JJCET Hackathon Team Demo Template</vt:lpstr>
      <vt:lpstr>[Team name]</vt:lpstr>
      <vt:lpstr>[One sentence: who struggles, with what]</vt:lpstr>
      <vt:lpstr>“[The one insight that changed what you built]”</vt:lpstr>
      <vt:lpstr>What we built, and what we cut</vt:lpstr>
      <vt:lpstr>PowerPoint Presentation</vt:lpstr>
      <vt:lpstr>What worked, what it got wrong, what we changed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JJCET Hackathon Team Demo Template</dc:title>
  <dc:subject/>
  <dc:creator/>
  <cp:lastModifiedBy>Shan</cp:lastModifiedBy>
  <cp:revision>1</cp:revision>
  <dcterms:created xsi:type="dcterms:W3CDTF">2026-10-21T16:29:27Z</dcterms:created>
  <dcterms:modified xsi:type="dcterms:W3CDTF">2026-10-21T16:59:14Z</dcterms:modified>
</cp:coreProperties>
</file>